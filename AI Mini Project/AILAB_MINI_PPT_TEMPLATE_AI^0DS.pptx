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EF56DB-6447-4E9A-8D0B-327B958AB26D}" type="datetimeFigureOut">
              <a:rPr lang="en-US" smtClean="0"/>
              <a:t>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476D98-D61B-4655-9F07-885518B2E134}" type="slidenum">
              <a:rPr lang="en-US" smtClean="0"/>
              <a:t>‹#›</a:t>
            </a:fld>
            <a:endParaRPr lang="en-US"/>
          </a:p>
        </p:txBody>
      </p:sp>
    </p:spTree>
    <p:extLst>
      <p:ext uri="{BB962C8B-B14F-4D97-AF65-F5344CB8AC3E}">
        <p14:creationId xmlns:p14="http://schemas.microsoft.com/office/powerpoint/2010/main" val="90517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2F0ED-5252-4C0D-3BA2-BA6ECDF907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F6E366-4DE2-8E81-1DC3-0AEE197AF6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8C19ECA-A45F-0986-41DE-E73470F3D075}"/>
              </a:ext>
            </a:extLst>
          </p:cNvPr>
          <p:cNvSpPr>
            <a:spLocks noGrp="1"/>
          </p:cNvSpPr>
          <p:nvPr>
            <p:ph type="dt" sz="half" idx="10"/>
          </p:nvPr>
        </p:nvSpPr>
        <p:spPr/>
        <p:txBody>
          <a:bodyPr/>
          <a:lstStyle/>
          <a:p>
            <a:fld id="{36A8A127-BB09-41A4-B1CB-CF09F8E9604A}" type="datetime1">
              <a:rPr lang="en-US" smtClean="0"/>
              <a:t>11/1/2025</a:t>
            </a:fld>
            <a:endParaRPr lang="en-US"/>
          </a:p>
        </p:txBody>
      </p:sp>
      <p:sp>
        <p:nvSpPr>
          <p:cNvPr id="5" name="Footer Placeholder 4">
            <a:extLst>
              <a:ext uri="{FF2B5EF4-FFF2-40B4-BE49-F238E27FC236}">
                <a16:creationId xmlns:a16="http://schemas.microsoft.com/office/drawing/2014/main" id="{246DC80E-2DDD-1136-4BC6-B4406DBF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C6432E-64B5-4716-F794-CD0C848FE6AA}"/>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1444283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75F44-3844-F881-3DC9-E55F3A5BB2A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B5DD6E-70DC-EC37-F363-8CA0371D48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884CC4-4338-D905-6FCE-6141610CE918}"/>
              </a:ext>
            </a:extLst>
          </p:cNvPr>
          <p:cNvSpPr>
            <a:spLocks noGrp="1"/>
          </p:cNvSpPr>
          <p:nvPr>
            <p:ph type="dt" sz="half" idx="10"/>
          </p:nvPr>
        </p:nvSpPr>
        <p:spPr/>
        <p:txBody>
          <a:bodyPr/>
          <a:lstStyle/>
          <a:p>
            <a:fld id="{42A9C543-C1A5-4BB5-A80B-9531F5C51CEB}" type="datetime1">
              <a:rPr lang="en-US" smtClean="0"/>
              <a:t>11/1/2025</a:t>
            </a:fld>
            <a:endParaRPr lang="en-US"/>
          </a:p>
        </p:txBody>
      </p:sp>
      <p:sp>
        <p:nvSpPr>
          <p:cNvPr id="5" name="Footer Placeholder 4">
            <a:extLst>
              <a:ext uri="{FF2B5EF4-FFF2-40B4-BE49-F238E27FC236}">
                <a16:creationId xmlns:a16="http://schemas.microsoft.com/office/drawing/2014/main" id="{AD46F4CB-E19E-BF21-CA04-20FBF9E0B02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C561CA-A7D9-921E-283C-D2D26EC9D33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855382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F0DB8-4328-6842-4C20-194E16496B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D1C16DD-B055-C373-DB9C-1095E3A7F61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308B3A-5B20-B104-4DC9-F294FE85DC4F}"/>
              </a:ext>
            </a:extLst>
          </p:cNvPr>
          <p:cNvSpPr>
            <a:spLocks noGrp="1"/>
          </p:cNvSpPr>
          <p:nvPr>
            <p:ph type="dt" sz="half" idx="10"/>
          </p:nvPr>
        </p:nvSpPr>
        <p:spPr/>
        <p:txBody>
          <a:bodyPr/>
          <a:lstStyle/>
          <a:p>
            <a:fld id="{85DB2ABE-BEC8-4A12-8AF2-3E9347C9F9C5}" type="datetime1">
              <a:rPr lang="en-US" smtClean="0"/>
              <a:t>11/1/2025</a:t>
            </a:fld>
            <a:endParaRPr lang="en-US"/>
          </a:p>
        </p:txBody>
      </p:sp>
      <p:sp>
        <p:nvSpPr>
          <p:cNvPr id="5" name="Footer Placeholder 4">
            <a:extLst>
              <a:ext uri="{FF2B5EF4-FFF2-40B4-BE49-F238E27FC236}">
                <a16:creationId xmlns:a16="http://schemas.microsoft.com/office/drawing/2014/main" id="{242F6EF1-C2BF-E0B8-5AD2-1E80894A92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3C3E5B-79C1-F551-EB78-424972E416AB}"/>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362975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FA2CF-D4B2-C0EA-7D8B-9997981DFC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8EC816-FAB0-61B5-B8A9-3CEEDE3AC6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6888030-9606-40F3-F568-569861E67BB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F26BC2E-18CA-513E-BBD3-A4A6A46824FE}"/>
              </a:ext>
            </a:extLst>
          </p:cNvPr>
          <p:cNvSpPr>
            <a:spLocks noGrp="1"/>
          </p:cNvSpPr>
          <p:nvPr>
            <p:ph type="dt" sz="half" idx="10"/>
          </p:nvPr>
        </p:nvSpPr>
        <p:spPr/>
        <p:txBody>
          <a:bodyPr/>
          <a:lstStyle/>
          <a:p>
            <a:fld id="{E457CA91-FD83-4EFE-93EA-63992C03614F}" type="datetime1">
              <a:rPr lang="en-US" smtClean="0"/>
              <a:t>11/1/2025</a:t>
            </a:fld>
            <a:endParaRPr lang="en-US"/>
          </a:p>
        </p:txBody>
      </p:sp>
      <p:sp>
        <p:nvSpPr>
          <p:cNvPr id="6" name="Footer Placeholder 5">
            <a:extLst>
              <a:ext uri="{FF2B5EF4-FFF2-40B4-BE49-F238E27FC236}">
                <a16:creationId xmlns:a16="http://schemas.microsoft.com/office/drawing/2014/main" id="{7610C424-8EE7-DCF3-92CA-9943CA217BA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02771-6578-A3F3-2DE5-957F26935FA9}"/>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846501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A56EB-15F3-DA5A-FC5F-C8A9854DFC2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4F55B3-769C-0F68-56E4-09A31651F09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9390E3-482E-14E5-E93E-3EFDFCA024C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A5F7FD4-A0A2-100E-247B-0439DA6A8EA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AB19785-7F9E-F7E7-9989-FBA2A2436A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99BF4CB-4B11-6795-84C1-91B139428AEE}"/>
              </a:ext>
            </a:extLst>
          </p:cNvPr>
          <p:cNvSpPr>
            <a:spLocks noGrp="1"/>
          </p:cNvSpPr>
          <p:nvPr>
            <p:ph type="dt" sz="half" idx="10"/>
          </p:nvPr>
        </p:nvSpPr>
        <p:spPr/>
        <p:txBody>
          <a:bodyPr/>
          <a:lstStyle/>
          <a:p>
            <a:fld id="{07D6C43A-13E2-48A2-BAE5-CC73887FC199}" type="datetime1">
              <a:rPr lang="en-US" smtClean="0"/>
              <a:t>11/1/2025</a:t>
            </a:fld>
            <a:endParaRPr lang="en-US"/>
          </a:p>
        </p:txBody>
      </p:sp>
      <p:sp>
        <p:nvSpPr>
          <p:cNvPr id="8" name="Footer Placeholder 7">
            <a:extLst>
              <a:ext uri="{FF2B5EF4-FFF2-40B4-BE49-F238E27FC236}">
                <a16:creationId xmlns:a16="http://schemas.microsoft.com/office/drawing/2014/main" id="{F52FCB82-5972-D333-E21C-DF24F6BCF4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F12211A-324E-9069-32B0-8F509730AD76}"/>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33420882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0A965-A2B0-80BB-C6BA-CCCFA272AED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F0A2016-FBBB-4A1F-6F9E-FE6A63DE4832}"/>
              </a:ext>
            </a:extLst>
          </p:cNvPr>
          <p:cNvSpPr>
            <a:spLocks noGrp="1"/>
          </p:cNvSpPr>
          <p:nvPr>
            <p:ph type="dt" sz="half" idx="10"/>
          </p:nvPr>
        </p:nvSpPr>
        <p:spPr/>
        <p:txBody>
          <a:bodyPr/>
          <a:lstStyle/>
          <a:p>
            <a:fld id="{4EA2C5D3-416C-4131-8BC9-E71DA97D5A64}" type="datetime1">
              <a:rPr lang="en-US" smtClean="0"/>
              <a:t>11/1/2025</a:t>
            </a:fld>
            <a:endParaRPr lang="en-US"/>
          </a:p>
        </p:txBody>
      </p:sp>
      <p:sp>
        <p:nvSpPr>
          <p:cNvPr id="4" name="Footer Placeholder 3">
            <a:extLst>
              <a:ext uri="{FF2B5EF4-FFF2-40B4-BE49-F238E27FC236}">
                <a16:creationId xmlns:a16="http://schemas.microsoft.com/office/drawing/2014/main" id="{EBE845DF-F961-5466-32C3-C6385060CC2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6E057F6-928A-6D9F-4161-C04DEAA83D6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075974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B366D7-6680-4FD6-C029-DC5C0BB2354F}"/>
              </a:ext>
            </a:extLst>
          </p:cNvPr>
          <p:cNvSpPr>
            <a:spLocks noGrp="1"/>
          </p:cNvSpPr>
          <p:nvPr>
            <p:ph type="dt" sz="half" idx="10"/>
          </p:nvPr>
        </p:nvSpPr>
        <p:spPr/>
        <p:txBody>
          <a:bodyPr/>
          <a:lstStyle/>
          <a:p>
            <a:fld id="{B8971593-8386-48B7-BB85-87C0949B2086}" type="datetime1">
              <a:rPr lang="en-US" smtClean="0"/>
              <a:t>11/1/2025</a:t>
            </a:fld>
            <a:endParaRPr lang="en-US"/>
          </a:p>
        </p:txBody>
      </p:sp>
      <p:sp>
        <p:nvSpPr>
          <p:cNvPr id="3" name="Footer Placeholder 2">
            <a:extLst>
              <a:ext uri="{FF2B5EF4-FFF2-40B4-BE49-F238E27FC236}">
                <a16:creationId xmlns:a16="http://schemas.microsoft.com/office/drawing/2014/main" id="{94179984-8567-91CB-0310-29A3752B78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22C7A0D-606C-3BF9-8DBE-908D80966AD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799376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684C1-8596-31A1-180D-C7EC5332BB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13762C2-B7CC-ADA3-9D39-3541B3FE5A3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835A5F9-7E68-401F-C3BB-09FB74F82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5F73E6-ECB8-2943-41D8-05812D848AD3}"/>
              </a:ext>
            </a:extLst>
          </p:cNvPr>
          <p:cNvSpPr>
            <a:spLocks noGrp="1"/>
          </p:cNvSpPr>
          <p:nvPr>
            <p:ph type="dt" sz="half" idx="10"/>
          </p:nvPr>
        </p:nvSpPr>
        <p:spPr/>
        <p:txBody>
          <a:bodyPr/>
          <a:lstStyle/>
          <a:p>
            <a:fld id="{3070F398-88D3-4D2F-9F7E-785BF8AD0274}" type="datetime1">
              <a:rPr lang="en-US" smtClean="0"/>
              <a:t>11/1/2025</a:t>
            </a:fld>
            <a:endParaRPr lang="en-US"/>
          </a:p>
        </p:txBody>
      </p:sp>
      <p:sp>
        <p:nvSpPr>
          <p:cNvPr id="6" name="Footer Placeholder 5">
            <a:extLst>
              <a:ext uri="{FF2B5EF4-FFF2-40B4-BE49-F238E27FC236}">
                <a16:creationId xmlns:a16="http://schemas.microsoft.com/office/drawing/2014/main" id="{D86B5AF7-95CA-05D2-1119-F667C7B6F8D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599C23-C916-AE53-9371-42CF3819D0E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1574991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9AC56-39A4-2278-722C-617F9F770A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1FAD1B2-1942-74FB-C400-0DB0C13B9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1DA8F38-E9BE-47E4-7662-3CD4AECCB2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28AE0B-2CCA-EDA3-1B80-8F2E1DF84CA6}"/>
              </a:ext>
            </a:extLst>
          </p:cNvPr>
          <p:cNvSpPr>
            <a:spLocks noGrp="1"/>
          </p:cNvSpPr>
          <p:nvPr>
            <p:ph type="dt" sz="half" idx="10"/>
          </p:nvPr>
        </p:nvSpPr>
        <p:spPr/>
        <p:txBody>
          <a:bodyPr/>
          <a:lstStyle/>
          <a:p>
            <a:fld id="{CE1A94C1-07AC-4775-8A4F-70BB05306BF7}" type="datetime1">
              <a:rPr lang="en-US" smtClean="0"/>
              <a:t>11/1/2025</a:t>
            </a:fld>
            <a:endParaRPr lang="en-US"/>
          </a:p>
        </p:txBody>
      </p:sp>
      <p:sp>
        <p:nvSpPr>
          <p:cNvPr id="6" name="Footer Placeholder 5">
            <a:extLst>
              <a:ext uri="{FF2B5EF4-FFF2-40B4-BE49-F238E27FC236}">
                <a16:creationId xmlns:a16="http://schemas.microsoft.com/office/drawing/2014/main" id="{2FDB1342-9AFD-57F0-2E90-76ECCEAFA3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180B8-E20A-6138-1A1C-1E980CAD40A5}"/>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296949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F050B6-05B4-E3FE-22C0-B823946C349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4B519-CE0F-EF5E-0363-067F1B0DB1E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E2CA70-5E41-1433-D1D4-58B7EECA7D33}"/>
              </a:ext>
            </a:extLst>
          </p:cNvPr>
          <p:cNvSpPr>
            <a:spLocks noGrp="1"/>
          </p:cNvSpPr>
          <p:nvPr>
            <p:ph type="dt" sz="half" idx="10"/>
          </p:nvPr>
        </p:nvSpPr>
        <p:spPr/>
        <p:txBody>
          <a:bodyPr/>
          <a:lstStyle/>
          <a:p>
            <a:fld id="{850BF149-3A71-4B38-9BDE-7A4D7C7AB1AD}" type="datetime1">
              <a:rPr lang="en-US" smtClean="0"/>
              <a:t>11/1/2025</a:t>
            </a:fld>
            <a:endParaRPr lang="en-US"/>
          </a:p>
        </p:txBody>
      </p:sp>
      <p:sp>
        <p:nvSpPr>
          <p:cNvPr id="5" name="Footer Placeholder 4">
            <a:extLst>
              <a:ext uri="{FF2B5EF4-FFF2-40B4-BE49-F238E27FC236}">
                <a16:creationId xmlns:a16="http://schemas.microsoft.com/office/drawing/2014/main" id="{4A27E013-1DD3-69EC-2DB2-F95CD3491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12FAA7-8459-22BB-DD92-45D2DCDBB7A1}"/>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8421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5F096-56EB-9C2E-FB81-FEE0A0CAD97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F2D9855-6F39-E67A-6BE9-0AC527E9721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113E1-9951-703E-A152-D5CEEC0EEDDB}"/>
              </a:ext>
            </a:extLst>
          </p:cNvPr>
          <p:cNvSpPr>
            <a:spLocks noGrp="1"/>
          </p:cNvSpPr>
          <p:nvPr>
            <p:ph type="dt" sz="half" idx="10"/>
          </p:nvPr>
        </p:nvSpPr>
        <p:spPr/>
        <p:txBody>
          <a:bodyPr/>
          <a:lstStyle/>
          <a:p>
            <a:fld id="{25415CF1-83E4-4056-B983-BD617F30DAFA}" type="datetime1">
              <a:rPr lang="en-US" smtClean="0"/>
              <a:t>11/1/2025</a:t>
            </a:fld>
            <a:endParaRPr lang="en-US"/>
          </a:p>
        </p:txBody>
      </p:sp>
      <p:sp>
        <p:nvSpPr>
          <p:cNvPr id="5" name="Footer Placeholder 4">
            <a:extLst>
              <a:ext uri="{FF2B5EF4-FFF2-40B4-BE49-F238E27FC236}">
                <a16:creationId xmlns:a16="http://schemas.microsoft.com/office/drawing/2014/main" id="{A7463D87-637E-E53B-45EF-5E53B2925E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5677AB-ED08-1C04-AEC4-B8B3B85BC40F}"/>
              </a:ext>
            </a:extLst>
          </p:cNvPr>
          <p:cNvSpPr>
            <a:spLocks noGrp="1"/>
          </p:cNvSpPr>
          <p:nvPr>
            <p:ph type="sldNum" sz="quarter" idx="12"/>
          </p:nvPr>
        </p:nvSpPr>
        <p:spPr/>
        <p:txBody>
          <a:bodyPr/>
          <a:lstStyle/>
          <a:p>
            <a:fld id="{1FCEF87E-815D-44D1-B0AB-39AF0402D6A8}" type="slidenum">
              <a:rPr lang="en-US" smtClean="0"/>
              <a:t>‹#›</a:t>
            </a:fld>
            <a:endParaRPr lang="en-US"/>
          </a:p>
        </p:txBody>
      </p:sp>
    </p:spTree>
    <p:extLst>
      <p:ext uri="{BB962C8B-B14F-4D97-AF65-F5344CB8AC3E}">
        <p14:creationId xmlns:p14="http://schemas.microsoft.com/office/powerpoint/2010/main" val="9964240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4DB59C-E06D-9064-D0E9-EE878347C88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3B2644-B987-EA40-64D1-C253A45B0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BC9483-BDE6-AF2E-5EF6-5FD8C63DA8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A37CB-3111-4E43-978B-840B0C3E984E}" type="datetime1">
              <a:rPr lang="en-US" smtClean="0"/>
              <a:t>11/1/2025</a:t>
            </a:fld>
            <a:endParaRPr lang="en-US"/>
          </a:p>
        </p:txBody>
      </p:sp>
      <p:sp>
        <p:nvSpPr>
          <p:cNvPr id="5" name="Footer Placeholder 4">
            <a:extLst>
              <a:ext uri="{FF2B5EF4-FFF2-40B4-BE49-F238E27FC236}">
                <a16:creationId xmlns:a16="http://schemas.microsoft.com/office/drawing/2014/main" id="{E6345DA1-9E37-8BE4-5FD8-3086239736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9C78D0E-8A6B-A368-9312-1F3C29DDBA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FCEF87E-815D-44D1-B0AB-39AF0402D6A8}" type="slidenum">
              <a:rPr lang="en-US" smtClean="0"/>
              <a:t>‹#›</a:t>
            </a:fld>
            <a:endParaRPr lang="en-US"/>
          </a:p>
        </p:txBody>
      </p:sp>
    </p:spTree>
    <p:extLst>
      <p:ext uri="{BB962C8B-B14F-4D97-AF65-F5344CB8AC3E}">
        <p14:creationId xmlns:p14="http://schemas.microsoft.com/office/powerpoint/2010/main" val="36965271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F15FA6-086D-491A-B175-0CA4656FBDCB}"/>
              </a:ext>
            </a:extLst>
          </p:cNvPr>
          <p:cNvPicPr/>
          <p:nvPr/>
        </p:nvPicPr>
        <p:blipFill>
          <a:blip r:embed="rId2" cstate="print"/>
          <a:srcRect l="21229" t="27213" r="21523" b="35253"/>
          <a:stretch>
            <a:fillRect/>
          </a:stretch>
        </p:blipFill>
        <p:spPr bwMode="auto">
          <a:xfrm>
            <a:off x="3256548" y="136525"/>
            <a:ext cx="4776536" cy="834189"/>
          </a:xfrm>
          <a:prstGeom prst="rect">
            <a:avLst/>
          </a:prstGeom>
          <a:ln>
            <a:headEnd/>
            <a:tailEnd type="none" w="med" len="med"/>
          </a:ln>
        </p:spPr>
        <p:style>
          <a:lnRef idx="1">
            <a:schemeClr val="accent2"/>
          </a:lnRef>
          <a:fillRef idx="3">
            <a:schemeClr val="accent2"/>
          </a:fillRef>
          <a:effectRef idx="2">
            <a:schemeClr val="accent2"/>
          </a:effectRef>
          <a:fontRef idx="minor">
            <a:schemeClr val="lt1"/>
          </a:fontRef>
        </p:style>
      </p:pic>
      <p:sp>
        <p:nvSpPr>
          <p:cNvPr id="7" name="Title 6">
            <a:extLst>
              <a:ext uri="{FF2B5EF4-FFF2-40B4-BE49-F238E27FC236}">
                <a16:creationId xmlns:a16="http://schemas.microsoft.com/office/drawing/2014/main" id="{5BEE647A-5606-A6E5-93DB-A43A8FC2D88A}"/>
              </a:ext>
            </a:extLst>
          </p:cNvPr>
          <p:cNvSpPr>
            <a:spLocks noGrp="1"/>
          </p:cNvSpPr>
          <p:nvPr>
            <p:ph type="ctrTitle"/>
          </p:nvPr>
        </p:nvSpPr>
        <p:spPr>
          <a:xfrm>
            <a:off x="433138" y="1251284"/>
            <a:ext cx="10812378" cy="2458586"/>
          </a:xfrm>
        </p:spPr>
        <p:txBody>
          <a:bodyPr>
            <a:noAutofit/>
          </a:bodyPr>
          <a:lstStyle/>
          <a:p>
            <a:r>
              <a:rPr lang="en-GB" sz="2400" b="1" dirty="0">
                <a:latin typeface="Times New Roman" panose="02020603050405020304" pitchFamily="18" charset="0"/>
                <a:cs typeface="Times New Roman" panose="02020603050405020304" pitchFamily="18" charset="0"/>
              </a:rPr>
              <a:t>DEPARTMENT OF</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AND DATA SCIENCE</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ACADEMIC YEAR 2025 - 2026</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SEMESTER III</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ARTIFICIAL INTELLIGENCE LABORATORY</a:t>
            </a:r>
            <a:br>
              <a:rPr lang="en-GB" sz="2400" b="1" dirty="0">
                <a:latin typeface="Times New Roman" panose="02020603050405020304" pitchFamily="18" charset="0"/>
                <a:cs typeface="Times New Roman" panose="02020603050405020304" pitchFamily="18" charset="0"/>
              </a:rPr>
            </a:br>
            <a:r>
              <a:rPr lang="en-GB" sz="2400" b="1" dirty="0">
                <a:latin typeface="Times New Roman" panose="02020603050405020304" pitchFamily="18" charset="0"/>
                <a:cs typeface="Times New Roman" panose="02020603050405020304" pitchFamily="18" charset="0"/>
              </a:rPr>
              <a:t>	</a:t>
            </a:r>
            <a:r>
              <a:rPr lang="en-GB" sz="2400" b="1" dirty="0">
                <a:solidFill>
                  <a:srgbClr val="002060"/>
                </a:solidFill>
                <a:latin typeface="Times New Roman" panose="02020603050405020304" pitchFamily="18" charset="0"/>
                <a:cs typeface="Times New Roman" panose="02020603050405020304" pitchFamily="18" charset="0"/>
              </a:rPr>
              <a:t>MINI PROJECT REVIEW</a:t>
            </a:r>
            <a:r>
              <a:rPr lang="en-GB" sz="2400" dirty="0">
                <a:solidFill>
                  <a:srgbClr val="002060"/>
                </a:solidFill>
                <a:latin typeface="Times New Roman" panose="02020603050405020304" pitchFamily="18" charset="0"/>
                <a:cs typeface="Times New Roman" panose="02020603050405020304" pitchFamily="18" charset="0"/>
              </a:rPr>
              <a:t>	</a:t>
            </a:r>
            <a:br>
              <a:rPr lang="en-GB" sz="2400" dirty="0">
                <a:latin typeface="Times New Roman" panose="02020603050405020304" pitchFamily="18" charset="0"/>
                <a:cs typeface="Times New Roman" panose="02020603050405020304" pitchFamily="18" charset="0"/>
              </a:rPr>
            </a:br>
            <a:br>
              <a:rPr lang="en-GB" sz="2400" dirty="0">
                <a:latin typeface="Times New Roman" panose="02020603050405020304" pitchFamily="18" charset="0"/>
                <a:cs typeface="Times New Roman" panose="02020603050405020304" pitchFamily="18" charset="0"/>
              </a:rPr>
            </a:br>
            <a:r>
              <a:rPr lang="en-GB" sz="2400" b="1" dirty="0">
                <a:solidFill>
                  <a:srgbClr val="FF0000"/>
                </a:solidFill>
                <a:latin typeface="Times New Roman" panose="02020603050405020304" pitchFamily="18" charset="0"/>
                <a:cs typeface="Times New Roman" panose="02020603050405020304" pitchFamily="18" charset="0"/>
              </a:rPr>
              <a:t>SMART TRAFFIC SIGNAL CONTROL SYSTEM</a:t>
            </a:r>
            <a:endParaRPr lang="en-US" sz="24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11" name="Table 10">
            <a:extLst>
              <a:ext uri="{FF2B5EF4-FFF2-40B4-BE49-F238E27FC236}">
                <a16:creationId xmlns:a16="http://schemas.microsoft.com/office/drawing/2014/main" id="{B39E0012-B3AF-E718-6BBA-5D37629E4005}"/>
              </a:ext>
            </a:extLst>
          </p:cNvPr>
          <p:cNvGraphicFramePr>
            <a:graphicFrameLocks noGrp="1"/>
          </p:cNvGraphicFramePr>
          <p:nvPr>
            <p:extLst>
              <p:ext uri="{D42A27DB-BD31-4B8C-83A1-F6EECF244321}">
                <p14:modId xmlns:p14="http://schemas.microsoft.com/office/powerpoint/2010/main" val="3564417913"/>
              </p:ext>
            </p:extLst>
          </p:nvPr>
        </p:nvGraphicFramePr>
        <p:xfrm>
          <a:off x="2098841" y="3845961"/>
          <a:ext cx="8392696" cy="2458586"/>
        </p:xfrm>
        <a:graphic>
          <a:graphicData uri="http://schemas.openxmlformats.org/drawingml/2006/table">
            <a:tbl>
              <a:tblPr firstRow="1" bandRow="1">
                <a:tableStyleId>{21E4AEA4-8DFA-4A89-87EB-49C32662AFE0}</a:tableStyleId>
              </a:tblPr>
              <a:tblGrid>
                <a:gridCol w="2216485">
                  <a:extLst>
                    <a:ext uri="{9D8B030D-6E8A-4147-A177-3AD203B41FA5}">
                      <a16:colId xmlns:a16="http://schemas.microsoft.com/office/drawing/2014/main" val="1924387309"/>
                    </a:ext>
                  </a:extLst>
                </a:gridCol>
                <a:gridCol w="6176211">
                  <a:extLst>
                    <a:ext uri="{9D8B030D-6E8A-4147-A177-3AD203B41FA5}">
                      <a16:colId xmlns:a16="http://schemas.microsoft.com/office/drawing/2014/main" val="471423325"/>
                    </a:ext>
                  </a:extLst>
                </a:gridCol>
              </a:tblGrid>
              <a:tr h="486314">
                <a:tc>
                  <a:txBody>
                    <a:bodyPr/>
                    <a:lstStyle/>
                    <a:p>
                      <a:r>
                        <a:rPr lang="en-GB" b="1" dirty="0">
                          <a:solidFill>
                            <a:schemeClr val="tx1"/>
                          </a:solidFill>
                        </a:rPr>
                        <a:t>REGISTER NUMBER</a:t>
                      </a:r>
                      <a:endParaRPr lang="en-US" b="1" dirty="0">
                        <a:solidFill>
                          <a:schemeClr val="tx1"/>
                        </a:solidFill>
                      </a:endParaRPr>
                    </a:p>
                  </a:txBody>
                  <a:tcPr/>
                </a:tc>
                <a:tc>
                  <a:txBody>
                    <a:bodyPr/>
                    <a:lstStyle/>
                    <a:p>
                      <a:r>
                        <a:rPr lang="en-US" dirty="0"/>
                        <a:t>2117240070126</a:t>
                      </a:r>
                    </a:p>
                  </a:txBody>
                  <a:tcPr/>
                </a:tc>
                <a:extLst>
                  <a:ext uri="{0D108BD9-81ED-4DB2-BD59-A6C34878D82A}">
                    <a16:rowId xmlns:a16="http://schemas.microsoft.com/office/drawing/2014/main" val="471703413"/>
                  </a:ext>
                </a:extLst>
              </a:tr>
              <a:tr h="493068">
                <a:tc>
                  <a:txBody>
                    <a:bodyPr/>
                    <a:lstStyle/>
                    <a:p>
                      <a:r>
                        <a:rPr lang="en-GB" b="1" dirty="0">
                          <a:solidFill>
                            <a:schemeClr val="tx1"/>
                          </a:solidFill>
                        </a:rPr>
                        <a:t>NAME</a:t>
                      </a:r>
                      <a:endParaRPr lang="en-US" b="1" dirty="0">
                        <a:solidFill>
                          <a:schemeClr val="tx1"/>
                        </a:solidFill>
                      </a:endParaRPr>
                    </a:p>
                  </a:txBody>
                  <a:tcPr/>
                </a:tc>
                <a:tc>
                  <a:txBody>
                    <a:bodyPr/>
                    <a:lstStyle/>
                    <a:p>
                      <a:r>
                        <a:rPr lang="en-US" dirty="0"/>
                        <a:t>JAYA SURYA S</a:t>
                      </a:r>
                    </a:p>
                  </a:txBody>
                  <a:tcPr/>
                </a:tc>
                <a:extLst>
                  <a:ext uri="{0D108BD9-81ED-4DB2-BD59-A6C34878D82A}">
                    <a16:rowId xmlns:a16="http://schemas.microsoft.com/office/drawing/2014/main" val="2967366592"/>
                  </a:ext>
                </a:extLst>
              </a:tr>
              <a:tr h="493068">
                <a:tc>
                  <a:txBody>
                    <a:bodyPr/>
                    <a:lstStyle/>
                    <a:p>
                      <a:r>
                        <a:rPr lang="en-GB" b="1" dirty="0">
                          <a:solidFill>
                            <a:schemeClr val="tx1"/>
                          </a:solidFill>
                        </a:rPr>
                        <a:t>YEAR</a:t>
                      </a:r>
                      <a:endParaRPr lang="en-US" b="1" dirty="0">
                        <a:solidFill>
                          <a:schemeClr val="tx1"/>
                        </a:solidFill>
                      </a:endParaRPr>
                    </a:p>
                  </a:txBody>
                  <a:tcPr/>
                </a:tc>
                <a:tc>
                  <a:txBody>
                    <a:bodyPr/>
                    <a:lstStyle/>
                    <a:p>
                      <a:r>
                        <a:rPr lang="en-US" dirty="0"/>
                        <a:t>II  YEAR</a:t>
                      </a:r>
                    </a:p>
                  </a:txBody>
                  <a:tcPr/>
                </a:tc>
                <a:extLst>
                  <a:ext uri="{0D108BD9-81ED-4DB2-BD59-A6C34878D82A}">
                    <a16:rowId xmlns:a16="http://schemas.microsoft.com/office/drawing/2014/main" val="3106965190"/>
                  </a:ext>
                </a:extLst>
              </a:tr>
              <a:tr h="493068">
                <a:tc>
                  <a:txBody>
                    <a:bodyPr/>
                    <a:lstStyle/>
                    <a:p>
                      <a:r>
                        <a:rPr lang="en-GB" b="1" dirty="0">
                          <a:solidFill>
                            <a:schemeClr val="tx1"/>
                          </a:solidFill>
                        </a:rPr>
                        <a:t>SECTION</a:t>
                      </a:r>
                      <a:endParaRPr lang="en-US" b="1" dirty="0">
                        <a:solidFill>
                          <a:schemeClr val="tx1"/>
                        </a:solidFill>
                      </a:endParaRPr>
                    </a:p>
                  </a:txBody>
                  <a:tcPr/>
                </a:tc>
                <a:tc>
                  <a:txBody>
                    <a:bodyPr/>
                    <a:lstStyle/>
                    <a:p>
                      <a:r>
                        <a:rPr lang="en-US" dirty="0"/>
                        <a:t>B</a:t>
                      </a:r>
                    </a:p>
                  </a:txBody>
                  <a:tcPr/>
                </a:tc>
                <a:extLst>
                  <a:ext uri="{0D108BD9-81ED-4DB2-BD59-A6C34878D82A}">
                    <a16:rowId xmlns:a16="http://schemas.microsoft.com/office/drawing/2014/main" val="3234068443"/>
                  </a:ext>
                </a:extLst>
              </a:tr>
              <a:tr h="493068">
                <a:tc>
                  <a:txBody>
                    <a:bodyPr/>
                    <a:lstStyle/>
                    <a:p>
                      <a:r>
                        <a:rPr lang="en-GB" b="1" dirty="0">
                          <a:solidFill>
                            <a:schemeClr val="tx1"/>
                          </a:solidFill>
                        </a:rPr>
                        <a:t>FACULTY IN-CHARGE</a:t>
                      </a:r>
                      <a:endParaRPr lang="en-US" b="1" dirty="0">
                        <a:solidFill>
                          <a:schemeClr val="tx1"/>
                        </a:solidFill>
                      </a:endParaRPr>
                    </a:p>
                  </a:txBody>
                  <a:tcPr/>
                </a:tc>
                <a:tc>
                  <a:txBody>
                    <a:bodyPr/>
                    <a:lstStyle/>
                    <a:p>
                      <a:r>
                        <a:rPr lang="en-GB" b="1" dirty="0"/>
                        <a:t>Mrs. M. Rubina begam</a:t>
                      </a:r>
                      <a:endParaRPr lang="en-US" b="1" dirty="0"/>
                    </a:p>
                  </a:txBody>
                  <a:tcPr/>
                </a:tc>
                <a:extLst>
                  <a:ext uri="{0D108BD9-81ED-4DB2-BD59-A6C34878D82A}">
                    <a16:rowId xmlns:a16="http://schemas.microsoft.com/office/drawing/2014/main" val="3536199969"/>
                  </a:ext>
                </a:extLst>
              </a:tr>
            </a:tbl>
          </a:graphicData>
        </a:graphic>
      </p:graphicFrame>
      <p:sp>
        <p:nvSpPr>
          <p:cNvPr id="12" name="Date Placeholder 11">
            <a:extLst>
              <a:ext uri="{FF2B5EF4-FFF2-40B4-BE49-F238E27FC236}">
                <a16:creationId xmlns:a16="http://schemas.microsoft.com/office/drawing/2014/main" id="{6B174A57-15CE-2FFD-86D9-B7E84692480D}"/>
              </a:ext>
            </a:extLst>
          </p:cNvPr>
          <p:cNvSpPr>
            <a:spLocks noGrp="1"/>
          </p:cNvSpPr>
          <p:nvPr>
            <p:ph type="dt" sz="half" idx="10"/>
          </p:nvPr>
        </p:nvSpPr>
        <p:spPr/>
        <p:txBody>
          <a:bodyPr/>
          <a:lstStyle/>
          <a:p>
            <a:fld id="{F9B0B098-7844-408D-9BB3-6B083FBEE8AA}" type="datetime1">
              <a:rPr lang="en-US" smtClean="0"/>
              <a:t>11/1/2025</a:t>
            </a:fld>
            <a:endParaRPr lang="en-US"/>
          </a:p>
        </p:txBody>
      </p:sp>
      <p:sp>
        <p:nvSpPr>
          <p:cNvPr id="13" name="Slide Number Placeholder 12">
            <a:extLst>
              <a:ext uri="{FF2B5EF4-FFF2-40B4-BE49-F238E27FC236}">
                <a16:creationId xmlns:a16="http://schemas.microsoft.com/office/drawing/2014/main" id="{E4873981-939E-932D-DBE2-6B02CC92B85F}"/>
              </a:ext>
            </a:extLst>
          </p:cNvPr>
          <p:cNvSpPr>
            <a:spLocks noGrp="1"/>
          </p:cNvSpPr>
          <p:nvPr>
            <p:ph type="sldNum" sz="quarter" idx="12"/>
          </p:nvPr>
        </p:nvSpPr>
        <p:spPr/>
        <p:txBody>
          <a:bodyPr/>
          <a:lstStyle/>
          <a:p>
            <a:fld id="{1FCEF87E-815D-44D1-B0AB-39AF0402D6A8}" type="slidenum">
              <a:rPr lang="en-US" smtClean="0"/>
              <a:t>1</a:t>
            </a:fld>
            <a:endParaRPr lang="en-US"/>
          </a:p>
        </p:txBody>
      </p:sp>
    </p:spTree>
    <p:extLst>
      <p:ext uri="{BB962C8B-B14F-4D97-AF65-F5344CB8AC3E}">
        <p14:creationId xmlns:p14="http://schemas.microsoft.com/office/powerpoint/2010/main" val="2720793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E759A-0732-65F8-ABFC-93E81441B8A8}"/>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PROBLEM STATEMENT</a:t>
            </a:r>
            <a:endParaRPr lang="en-US" dirty="0">
              <a:solidFill>
                <a:schemeClr val="tx1"/>
              </a:solidFill>
            </a:endParaRPr>
          </a:p>
        </p:txBody>
      </p:sp>
      <p:sp>
        <p:nvSpPr>
          <p:cNvPr id="3" name="Content Placeholder 2">
            <a:extLst>
              <a:ext uri="{FF2B5EF4-FFF2-40B4-BE49-F238E27FC236}">
                <a16:creationId xmlns:a16="http://schemas.microsoft.com/office/drawing/2014/main" id="{FAE17474-C476-1051-3F37-A2159E2BEE57}"/>
              </a:ext>
            </a:extLst>
          </p:cNvPr>
          <p:cNvSpPr>
            <a:spLocks noGrp="1"/>
          </p:cNvSpPr>
          <p:nvPr>
            <p:ph idx="1"/>
          </p:nvPr>
        </p:nvSpPr>
        <p:spPr>
          <a:xfrm>
            <a:off x="838200" y="818147"/>
            <a:ext cx="10515600" cy="5159319"/>
          </a:xfrm>
        </p:spPr>
        <p:txBody>
          <a:bodyPr/>
          <a:lstStyle/>
          <a:p>
            <a:pPr marL="0" indent="0" algn="just">
              <a:buNone/>
            </a:pPr>
            <a:endPar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endParaRPr>
          </a:p>
          <a:p>
            <a:pPr marL="0" indent="0" algn="just">
              <a:buNone/>
            </a:pPr>
            <a:r>
              <a:rPr lang="en-US" sz="1800" dirty="0">
                <a:solidFill>
                  <a:srgbClr val="000000"/>
                </a:solidFill>
                <a:latin typeface="Cambria" panose="02040503050406030204" pitchFamily="18" charset="0"/>
                <a:ea typeface="MS Mincho" panose="02020609040205080304" pitchFamily="49" charset="-128"/>
                <a:cs typeface="Times New Roman" panose="02020603050405020304" pitchFamily="18" charset="0"/>
              </a:rPr>
              <a:t>	</a:t>
            </a:r>
            <a: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The existing static traffic control systems fail to adapt to varying traffic densities, leading to   inefficiency in urban traffic management. The goal of this project is to develop an intelligent traffic signal control system that automatically adjusts signal timings based on real-time vehicle density using machine learning techniques.</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0" indent="0">
              <a:buNone/>
            </a:pPr>
            <a:endParaRPr lang="en-US" dirty="0"/>
          </a:p>
        </p:txBody>
      </p:sp>
      <p:sp>
        <p:nvSpPr>
          <p:cNvPr id="4" name="Date Placeholder 3">
            <a:extLst>
              <a:ext uri="{FF2B5EF4-FFF2-40B4-BE49-F238E27FC236}">
                <a16:creationId xmlns:a16="http://schemas.microsoft.com/office/drawing/2014/main" id="{85FF5BCC-B36E-DFE5-103F-31FA12632094}"/>
              </a:ext>
            </a:extLst>
          </p:cNvPr>
          <p:cNvSpPr>
            <a:spLocks noGrp="1"/>
          </p:cNvSpPr>
          <p:nvPr>
            <p:ph type="dt" sz="half" idx="10"/>
          </p:nvPr>
        </p:nvSpPr>
        <p:spPr/>
        <p:txBody>
          <a:bodyPr/>
          <a:lstStyle/>
          <a:p>
            <a:fld id="{316FBEDF-053F-468F-8CCF-D1ACE4FBB50D}" type="datetime1">
              <a:rPr lang="en-US" smtClean="0"/>
              <a:t>11/1/2025</a:t>
            </a:fld>
            <a:endParaRPr lang="en-US"/>
          </a:p>
        </p:txBody>
      </p:sp>
      <p:sp>
        <p:nvSpPr>
          <p:cNvPr id="5" name="Slide Number Placeholder 4">
            <a:extLst>
              <a:ext uri="{FF2B5EF4-FFF2-40B4-BE49-F238E27FC236}">
                <a16:creationId xmlns:a16="http://schemas.microsoft.com/office/drawing/2014/main" id="{70253399-F526-B4B1-D444-32B3A164A39F}"/>
              </a:ext>
            </a:extLst>
          </p:cNvPr>
          <p:cNvSpPr>
            <a:spLocks noGrp="1"/>
          </p:cNvSpPr>
          <p:nvPr>
            <p:ph type="sldNum" sz="quarter" idx="12"/>
          </p:nvPr>
        </p:nvSpPr>
        <p:spPr/>
        <p:txBody>
          <a:bodyPr/>
          <a:lstStyle/>
          <a:p>
            <a:fld id="{1FCEF87E-815D-44D1-B0AB-39AF0402D6A8}" type="slidenum">
              <a:rPr lang="en-US" smtClean="0"/>
              <a:t>2</a:t>
            </a:fld>
            <a:endParaRPr lang="en-US"/>
          </a:p>
        </p:txBody>
      </p:sp>
    </p:spTree>
    <p:extLst>
      <p:ext uri="{BB962C8B-B14F-4D97-AF65-F5344CB8AC3E}">
        <p14:creationId xmlns:p14="http://schemas.microsoft.com/office/powerpoint/2010/main" val="18166147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CC068-5F54-97E8-2F1C-0538F11269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B2B1AF-B7ED-6DDA-888D-9BCAF08EA5E4}"/>
              </a:ext>
            </a:extLst>
          </p:cNvPr>
          <p:cNvSpPr>
            <a:spLocks noGrp="1"/>
          </p:cNvSpPr>
          <p:nvPr>
            <p:ph type="title"/>
          </p:nvPr>
        </p:nvSpPr>
        <p:spPr>
          <a:xfrm>
            <a:off x="0" y="35509"/>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THEORETICAL BACKGROUND</a:t>
            </a:r>
            <a:endParaRPr lang="en-US" dirty="0">
              <a:solidFill>
                <a:schemeClr val="tx1"/>
              </a:solidFill>
            </a:endParaRPr>
          </a:p>
        </p:txBody>
      </p:sp>
      <p:sp>
        <p:nvSpPr>
          <p:cNvPr id="3" name="Content Placeholder 2">
            <a:extLst>
              <a:ext uri="{FF2B5EF4-FFF2-40B4-BE49-F238E27FC236}">
                <a16:creationId xmlns:a16="http://schemas.microsoft.com/office/drawing/2014/main" id="{FE67243E-1300-82BE-9968-6837E801AFFC}"/>
              </a:ext>
            </a:extLst>
          </p:cNvPr>
          <p:cNvSpPr>
            <a:spLocks noGrp="1"/>
          </p:cNvSpPr>
          <p:nvPr>
            <p:ph idx="1"/>
          </p:nvPr>
        </p:nvSpPr>
        <p:spPr>
          <a:xfrm>
            <a:off x="838200" y="818148"/>
            <a:ext cx="10515600" cy="5358816"/>
          </a:xfrm>
        </p:spPr>
        <p:txBody>
          <a:bodyPr/>
          <a:lstStyle/>
          <a:p>
            <a:pPr marL="457200" lvl="1" indent="0">
              <a:buNone/>
            </a:pPr>
            <a:endPar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endParaRPr>
          </a:p>
          <a:p>
            <a:pPr marL="457200" lvl="1" indent="0">
              <a:buNone/>
            </a:pPr>
            <a: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Machine Learning (ML) allows systems to learn from data and make intelligent decisions. In this project, Reinforcement Learning (RL) is used, where an agent learns the best action (signal change) to take based on the current traffic state to minimize waiting time.</a:t>
            </a:r>
            <a:b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br>
            <a:b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br>
            <a:r>
              <a:rPr lang="en-US" sz="1800" b="1"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Key Concepts Used:</a:t>
            </a:r>
            <a:br>
              <a:rPr lang="en-US" sz="1800" b="1"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br>
            <a: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 Supervised Learning: For vehicle detection and traffic density estimation using image data.</a:t>
            </a:r>
            <a:b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br>
            <a: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 Reinforcement Learning: For optimizing signal timing through trial-and-error based feedback.</a:t>
            </a:r>
            <a:b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br>
            <a: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 Computer Vision: Used to count the number of vehicles from video frames using algorithms like            	YOLO or </a:t>
            </a:r>
            <a:r>
              <a:rPr lang="en-US" sz="1800" dirty="0" err="1">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Haar</a:t>
            </a:r>
            <a: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 Cascade.</a:t>
            </a:r>
            <a:b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br>
            <a:b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br>
            <a:r>
              <a:rPr lang="en-US" sz="1800" dirty="0">
                <a:solidFill>
                  <a:srgbClr val="000000"/>
                </a:solidFill>
                <a:effectLst/>
                <a:latin typeface="Cambria" panose="02040503050406030204" pitchFamily="18" charset="0"/>
                <a:ea typeface="MS Mincho" panose="02020609040205080304" pitchFamily="49" charset="-128"/>
                <a:cs typeface="Times New Roman" panose="02020603050405020304" pitchFamily="18" charset="0"/>
              </a:rPr>
              <a:t>The algorithm dynamically adjusts the green light duration based on the density of vehicles at each lane, ensuring fair distribution of traffic flow.</a:t>
            </a:r>
            <a:endParaRPr lang="en-IN" sz="1800" dirty="0">
              <a:effectLst/>
              <a:latin typeface="Cambria" panose="02040503050406030204" pitchFamily="18" charset="0"/>
              <a:ea typeface="MS Mincho" panose="02020609040205080304" pitchFamily="49" charset="-128"/>
              <a:cs typeface="Times New Roman" panose="02020603050405020304" pitchFamily="18" charset="0"/>
            </a:endParaRPr>
          </a:p>
          <a:p>
            <a:pPr marL="457200" lvl="1" indent="0">
              <a:buNone/>
            </a:pPr>
            <a:endParaRPr lang="en-US" dirty="0"/>
          </a:p>
          <a:p>
            <a:endParaRPr lang="en-US" dirty="0"/>
          </a:p>
        </p:txBody>
      </p:sp>
      <p:sp>
        <p:nvSpPr>
          <p:cNvPr id="4" name="Date Placeholder 3">
            <a:extLst>
              <a:ext uri="{FF2B5EF4-FFF2-40B4-BE49-F238E27FC236}">
                <a16:creationId xmlns:a16="http://schemas.microsoft.com/office/drawing/2014/main" id="{4AF593AB-ABA6-D8E8-42D9-A38FB7B4DB45}"/>
              </a:ext>
            </a:extLst>
          </p:cNvPr>
          <p:cNvSpPr>
            <a:spLocks noGrp="1"/>
          </p:cNvSpPr>
          <p:nvPr>
            <p:ph type="dt" sz="half" idx="10"/>
          </p:nvPr>
        </p:nvSpPr>
        <p:spPr/>
        <p:txBody>
          <a:bodyPr/>
          <a:lstStyle/>
          <a:p>
            <a:fld id="{316FBEDF-053F-468F-8CCF-D1ACE4FBB50D}" type="datetime1">
              <a:rPr lang="en-US" smtClean="0"/>
              <a:t>11/1/2025</a:t>
            </a:fld>
            <a:endParaRPr lang="en-US"/>
          </a:p>
        </p:txBody>
      </p:sp>
      <p:sp>
        <p:nvSpPr>
          <p:cNvPr id="5" name="Slide Number Placeholder 4">
            <a:extLst>
              <a:ext uri="{FF2B5EF4-FFF2-40B4-BE49-F238E27FC236}">
                <a16:creationId xmlns:a16="http://schemas.microsoft.com/office/drawing/2014/main" id="{40AE40CC-B05F-6325-A926-99504CD4A72F}"/>
              </a:ext>
            </a:extLst>
          </p:cNvPr>
          <p:cNvSpPr>
            <a:spLocks noGrp="1"/>
          </p:cNvSpPr>
          <p:nvPr>
            <p:ph type="sldNum" sz="quarter" idx="12"/>
          </p:nvPr>
        </p:nvSpPr>
        <p:spPr/>
        <p:txBody>
          <a:bodyPr/>
          <a:lstStyle/>
          <a:p>
            <a:fld id="{1FCEF87E-815D-44D1-B0AB-39AF0402D6A8}" type="slidenum">
              <a:rPr lang="en-US" smtClean="0"/>
              <a:t>3</a:t>
            </a:fld>
            <a:endParaRPr lang="en-US"/>
          </a:p>
        </p:txBody>
      </p:sp>
    </p:spTree>
    <p:extLst>
      <p:ext uri="{BB962C8B-B14F-4D97-AF65-F5344CB8AC3E}">
        <p14:creationId xmlns:p14="http://schemas.microsoft.com/office/powerpoint/2010/main" val="2832692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34F6B-2294-8100-6428-71DD4A23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876350-5987-57CB-5096-A77DCA2009EF}"/>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IMPLEMENTATION AND CODE</a:t>
            </a:r>
            <a:endParaRPr lang="en-US" dirty="0">
              <a:solidFill>
                <a:schemeClr val="tx1"/>
              </a:solidFill>
            </a:endParaRPr>
          </a:p>
        </p:txBody>
      </p:sp>
      <p:sp>
        <p:nvSpPr>
          <p:cNvPr id="3" name="Content Placeholder 2">
            <a:extLst>
              <a:ext uri="{FF2B5EF4-FFF2-40B4-BE49-F238E27FC236}">
                <a16:creationId xmlns:a16="http://schemas.microsoft.com/office/drawing/2014/main" id="{A229904C-7E5E-5862-ACA4-167CDBC5044B}"/>
              </a:ext>
            </a:extLst>
          </p:cNvPr>
          <p:cNvSpPr>
            <a:spLocks noGrp="1"/>
          </p:cNvSpPr>
          <p:nvPr>
            <p:ph idx="1"/>
          </p:nvPr>
        </p:nvSpPr>
        <p:spPr>
          <a:xfrm>
            <a:off x="838200" y="1267326"/>
            <a:ext cx="10515600" cy="4909637"/>
          </a:xfrm>
        </p:spPr>
        <p:txBody>
          <a:bodyPr/>
          <a:lstStyle/>
          <a:p>
            <a:r>
              <a:rPr lang="en-GB" dirty="0"/>
              <a:t>Link to code in Git-hub Repository</a:t>
            </a:r>
          </a:p>
          <a:p>
            <a:endParaRPr lang="en-GB" dirty="0"/>
          </a:p>
          <a:p>
            <a:endParaRPr lang="en-US" dirty="0"/>
          </a:p>
        </p:txBody>
      </p:sp>
      <p:sp>
        <p:nvSpPr>
          <p:cNvPr id="4" name="Date Placeholder 3">
            <a:extLst>
              <a:ext uri="{FF2B5EF4-FFF2-40B4-BE49-F238E27FC236}">
                <a16:creationId xmlns:a16="http://schemas.microsoft.com/office/drawing/2014/main" id="{C0BC0E82-F7C5-E4B3-8BB9-1583AC631384}"/>
              </a:ext>
            </a:extLst>
          </p:cNvPr>
          <p:cNvSpPr>
            <a:spLocks noGrp="1"/>
          </p:cNvSpPr>
          <p:nvPr>
            <p:ph type="dt" sz="half" idx="10"/>
          </p:nvPr>
        </p:nvSpPr>
        <p:spPr/>
        <p:txBody>
          <a:bodyPr/>
          <a:lstStyle/>
          <a:p>
            <a:fld id="{C5480D13-07B8-4CF5-901F-BD1025D74351}" type="datetime1">
              <a:rPr lang="en-US" smtClean="0"/>
              <a:t>11/1/2025</a:t>
            </a:fld>
            <a:endParaRPr lang="en-US"/>
          </a:p>
        </p:txBody>
      </p:sp>
      <p:sp>
        <p:nvSpPr>
          <p:cNvPr id="5" name="Slide Number Placeholder 4">
            <a:extLst>
              <a:ext uri="{FF2B5EF4-FFF2-40B4-BE49-F238E27FC236}">
                <a16:creationId xmlns:a16="http://schemas.microsoft.com/office/drawing/2014/main" id="{04775014-201C-1110-C957-46A30A1C2417}"/>
              </a:ext>
            </a:extLst>
          </p:cNvPr>
          <p:cNvSpPr>
            <a:spLocks noGrp="1"/>
          </p:cNvSpPr>
          <p:nvPr>
            <p:ph type="sldNum" sz="quarter" idx="12"/>
          </p:nvPr>
        </p:nvSpPr>
        <p:spPr/>
        <p:txBody>
          <a:bodyPr/>
          <a:lstStyle/>
          <a:p>
            <a:fld id="{1FCEF87E-815D-44D1-B0AB-39AF0402D6A8}" type="slidenum">
              <a:rPr lang="en-US" smtClean="0"/>
              <a:t>4</a:t>
            </a:fld>
            <a:endParaRPr lang="en-US"/>
          </a:p>
        </p:txBody>
      </p:sp>
      <p:graphicFrame>
        <p:nvGraphicFramePr>
          <p:cNvPr id="7" name="Table 6">
            <a:extLst>
              <a:ext uri="{FF2B5EF4-FFF2-40B4-BE49-F238E27FC236}">
                <a16:creationId xmlns:a16="http://schemas.microsoft.com/office/drawing/2014/main" id="{ACE64048-76D1-E559-97A6-1E9DA8CC9F64}"/>
              </a:ext>
            </a:extLst>
          </p:cNvPr>
          <p:cNvGraphicFramePr>
            <a:graphicFrameLocks noGrp="1"/>
          </p:cNvGraphicFramePr>
          <p:nvPr>
            <p:extLst>
              <p:ext uri="{D42A27DB-BD31-4B8C-83A1-F6EECF244321}">
                <p14:modId xmlns:p14="http://schemas.microsoft.com/office/powerpoint/2010/main" val="545102947"/>
              </p:ext>
            </p:extLst>
          </p:nvPr>
        </p:nvGraphicFramePr>
        <p:xfrm>
          <a:off x="1854200" y="2205222"/>
          <a:ext cx="8128000" cy="1747520"/>
        </p:xfrm>
        <a:graphic>
          <a:graphicData uri="http://schemas.openxmlformats.org/drawingml/2006/table">
            <a:tbl>
              <a:tblPr firstRow="1" bandRow="1">
                <a:tableStyleId>{21E4AEA4-8DFA-4A89-87EB-49C32662AFE0}</a:tableStyleId>
              </a:tblPr>
              <a:tblGrid>
                <a:gridCol w="4064000">
                  <a:extLst>
                    <a:ext uri="{9D8B030D-6E8A-4147-A177-3AD203B41FA5}">
                      <a16:colId xmlns:a16="http://schemas.microsoft.com/office/drawing/2014/main" val="4052004335"/>
                    </a:ext>
                  </a:extLst>
                </a:gridCol>
                <a:gridCol w="4064000">
                  <a:extLst>
                    <a:ext uri="{9D8B030D-6E8A-4147-A177-3AD203B41FA5}">
                      <a16:colId xmlns:a16="http://schemas.microsoft.com/office/drawing/2014/main" val="1251959847"/>
                    </a:ext>
                  </a:extLst>
                </a:gridCol>
              </a:tblGrid>
              <a:tr h="0">
                <a:tc>
                  <a:txBody>
                    <a:bodyPr/>
                    <a:lstStyle/>
                    <a:p>
                      <a:r>
                        <a:rPr lang="en-GB" dirty="0">
                          <a:solidFill>
                            <a:schemeClr val="tx1"/>
                          </a:solidFill>
                        </a:rPr>
                        <a:t>List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GB" dirty="0">
                          <a:solidFill>
                            <a:schemeClr val="tx1"/>
                          </a:solidFill>
                        </a:rPr>
                        <a:t>Git-hub Repository Links</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99369799"/>
                  </a:ext>
                </a:extLst>
              </a:tr>
              <a:tr h="370840">
                <a:tc>
                  <a:txBody>
                    <a:bodyPr/>
                    <a:lstStyle/>
                    <a:p>
                      <a:r>
                        <a:rPr lang="en-GB" dirty="0">
                          <a:solidFill>
                            <a:schemeClr val="tx1"/>
                          </a:solidFill>
                        </a:rPr>
                        <a:t>Implementation of Code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solidFill>
                            <a:schemeClr val="tx1"/>
                          </a:solidFill>
                        </a:rPr>
                        <a:t>https://github.com/Surya2006Jaya/MINI-PROJECT.git</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96202207"/>
                  </a:ext>
                </a:extLst>
              </a:tr>
              <a:tr h="370840">
                <a:tc>
                  <a:txBody>
                    <a:bodyPr/>
                    <a:lstStyle/>
                    <a:p>
                      <a:r>
                        <a:rPr lang="en-GB" dirty="0">
                          <a:solidFill>
                            <a:schemeClr val="tx1"/>
                          </a:solidFill>
                        </a:rPr>
                        <a:t>Word Document Report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1050083"/>
                  </a:ext>
                </a:extLst>
              </a:tr>
              <a:tr h="370840">
                <a:tc>
                  <a:txBody>
                    <a:bodyPr/>
                    <a:lstStyle/>
                    <a:p>
                      <a:r>
                        <a:rPr lang="en-GB" dirty="0">
                          <a:solidFill>
                            <a:schemeClr val="tx1"/>
                          </a:solidFill>
                        </a:rPr>
                        <a:t>PPT Link</a:t>
                      </a:r>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07241712"/>
                  </a:ext>
                </a:extLst>
              </a:tr>
            </a:tbl>
          </a:graphicData>
        </a:graphic>
      </p:graphicFrame>
    </p:spTree>
    <p:extLst>
      <p:ext uri="{BB962C8B-B14F-4D97-AF65-F5344CB8AC3E}">
        <p14:creationId xmlns:p14="http://schemas.microsoft.com/office/powerpoint/2010/main" val="519586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55069-71B1-83F0-E5F5-B02F8F5772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8887-D4AD-6383-79D6-F528D34824D4}"/>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OUTPUT AND RESULTS</a:t>
            </a:r>
            <a:endParaRPr lang="en-US" dirty="0">
              <a:solidFill>
                <a:schemeClr val="tx1"/>
              </a:solidFill>
            </a:endParaRPr>
          </a:p>
        </p:txBody>
      </p:sp>
      <p:sp>
        <p:nvSpPr>
          <p:cNvPr id="3" name="Content Placeholder 2">
            <a:extLst>
              <a:ext uri="{FF2B5EF4-FFF2-40B4-BE49-F238E27FC236}">
                <a16:creationId xmlns:a16="http://schemas.microsoft.com/office/drawing/2014/main" id="{CB511744-1841-7314-5231-7CC4C07DDED0}"/>
              </a:ext>
            </a:extLst>
          </p:cNvPr>
          <p:cNvSpPr>
            <a:spLocks noGrp="1"/>
          </p:cNvSpPr>
          <p:nvPr>
            <p:ph idx="1"/>
          </p:nvPr>
        </p:nvSpPr>
        <p:spPr>
          <a:xfrm>
            <a:off x="533400" y="1301192"/>
            <a:ext cx="10515600" cy="4909637"/>
          </a:xfrm>
        </p:spPr>
        <p:txBody>
          <a:bodyPr/>
          <a:lstStyle/>
          <a:p>
            <a:pPr marL="0" lvl="0" indent="0">
              <a:buNone/>
            </a:pPr>
            <a:r>
              <a:rPr lang="en-US" dirty="0"/>
              <a:t> OUTPUT:</a:t>
            </a:r>
          </a:p>
          <a:p>
            <a:pPr marL="0" lvl="0" indent="0">
              <a:buNone/>
            </a:pPr>
            <a:endParaRPr lang="en-US" dirty="0"/>
          </a:p>
        </p:txBody>
      </p:sp>
      <p:sp>
        <p:nvSpPr>
          <p:cNvPr id="4" name="Date Placeholder 3">
            <a:extLst>
              <a:ext uri="{FF2B5EF4-FFF2-40B4-BE49-F238E27FC236}">
                <a16:creationId xmlns:a16="http://schemas.microsoft.com/office/drawing/2014/main" id="{E47BACE5-322B-3F55-2CA9-8E1D4117021B}"/>
              </a:ext>
            </a:extLst>
          </p:cNvPr>
          <p:cNvSpPr>
            <a:spLocks noGrp="1"/>
          </p:cNvSpPr>
          <p:nvPr>
            <p:ph type="dt" sz="half" idx="10"/>
          </p:nvPr>
        </p:nvSpPr>
        <p:spPr/>
        <p:txBody>
          <a:bodyPr/>
          <a:lstStyle/>
          <a:p>
            <a:fld id="{C5480D13-07B8-4CF5-901F-BD1025D74351}" type="datetime1">
              <a:rPr lang="en-US" smtClean="0"/>
              <a:t>11/1/2025</a:t>
            </a:fld>
            <a:endParaRPr lang="en-US"/>
          </a:p>
        </p:txBody>
      </p:sp>
      <p:sp>
        <p:nvSpPr>
          <p:cNvPr id="5" name="Slide Number Placeholder 4">
            <a:extLst>
              <a:ext uri="{FF2B5EF4-FFF2-40B4-BE49-F238E27FC236}">
                <a16:creationId xmlns:a16="http://schemas.microsoft.com/office/drawing/2014/main" id="{A7D1AF6B-7EFE-60E0-2350-AE083D01AD8A}"/>
              </a:ext>
            </a:extLst>
          </p:cNvPr>
          <p:cNvSpPr>
            <a:spLocks noGrp="1"/>
          </p:cNvSpPr>
          <p:nvPr>
            <p:ph type="sldNum" sz="quarter" idx="12"/>
          </p:nvPr>
        </p:nvSpPr>
        <p:spPr/>
        <p:txBody>
          <a:bodyPr/>
          <a:lstStyle/>
          <a:p>
            <a:fld id="{1FCEF87E-815D-44D1-B0AB-39AF0402D6A8}" type="slidenum">
              <a:rPr lang="en-US" smtClean="0"/>
              <a:t>5</a:t>
            </a:fld>
            <a:endParaRPr lang="en-US"/>
          </a:p>
        </p:txBody>
      </p:sp>
      <p:pic>
        <p:nvPicPr>
          <p:cNvPr id="7" name="Picture 6">
            <a:extLst>
              <a:ext uri="{FF2B5EF4-FFF2-40B4-BE49-F238E27FC236}">
                <a16:creationId xmlns:a16="http://schemas.microsoft.com/office/drawing/2014/main" id="{FE79FC12-C50D-F565-4B8E-67B816808B4D}"/>
              </a:ext>
            </a:extLst>
          </p:cNvPr>
          <p:cNvPicPr>
            <a:picLocks noChangeAspect="1"/>
          </p:cNvPicPr>
          <p:nvPr/>
        </p:nvPicPr>
        <p:blipFill>
          <a:blip r:embed="rId2"/>
          <a:stretch>
            <a:fillRect/>
          </a:stretch>
        </p:blipFill>
        <p:spPr>
          <a:xfrm>
            <a:off x="328909" y="1752599"/>
            <a:ext cx="11534182" cy="4748768"/>
          </a:xfrm>
          <a:prstGeom prst="rect">
            <a:avLst/>
          </a:prstGeom>
        </p:spPr>
      </p:pic>
    </p:spTree>
    <p:extLst>
      <p:ext uri="{BB962C8B-B14F-4D97-AF65-F5344CB8AC3E}">
        <p14:creationId xmlns:p14="http://schemas.microsoft.com/office/powerpoint/2010/main" val="28052695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3ECA-B59E-8742-1165-9911D2A45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0B2EF6-B936-B9EB-24E4-C84A062402DD}"/>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RESULTS</a:t>
            </a:r>
            <a:endParaRPr lang="en-US" dirty="0">
              <a:solidFill>
                <a:schemeClr val="tx1"/>
              </a:solidFill>
            </a:endParaRPr>
          </a:p>
        </p:txBody>
      </p:sp>
      <p:sp>
        <p:nvSpPr>
          <p:cNvPr id="3" name="Content Placeholder 2">
            <a:extLst>
              <a:ext uri="{FF2B5EF4-FFF2-40B4-BE49-F238E27FC236}">
                <a16:creationId xmlns:a16="http://schemas.microsoft.com/office/drawing/2014/main" id="{4B9409AF-1BD6-CFDC-B172-AD3D38536AC2}"/>
              </a:ext>
            </a:extLst>
          </p:cNvPr>
          <p:cNvSpPr>
            <a:spLocks noGrp="1"/>
          </p:cNvSpPr>
          <p:nvPr>
            <p:ph idx="1"/>
          </p:nvPr>
        </p:nvSpPr>
        <p:spPr>
          <a:xfrm>
            <a:off x="838200" y="1267326"/>
            <a:ext cx="10515600" cy="4909637"/>
          </a:xfrm>
        </p:spPr>
        <p:txBody>
          <a:bodyPr/>
          <a:lstStyle/>
          <a:p>
            <a:pPr>
              <a:lnSpc>
                <a:spcPct val="115000"/>
              </a:lnSpc>
              <a:spcAft>
                <a:spcPts val="800"/>
              </a:spcAft>
            </a:pPr>
            <a:r>
              <a:rPr lang="en-US" sz="1800" b="1"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RESULTS AND FUTURE ENHANCEMENT</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800"/>
              </a:spcAft>
            </a:pP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Results:</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Successfully trained ML model to predict green light duration.</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Achieved reduction in average waiting time by approximately 30%.</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Improved overall traffic throughput in simulation tests.</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Future Enhancements:</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Integrate IoT sensors and live traffic cameras for large-scale deployment.</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Implement deep reinforcement learning for more adaptive control.</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Include emergency vehicle detection and priority systems.</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Connect with cloud-based traffic management platforms.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buNone/>
            </a:pPr>
            <a:endParaRPr lang="en-US" dirty="0"/>
          </a:p>
        </p:txBody>
      </p:sp>
      <p:sp>
        <p:nvSpPr>
          <p:cNvPr id="4" name="Date Placeholder 3">
            <a:extLst>
              <a:ext uri="{FF2B5EF4-FFF2-40B4-BE49-F238E27FC236}">
                <a16:creationId xmlns:a16="http://schemas.microsoft.com/office/drawing/2014/main" id="{04773938-5370-329C-27AB-D82ECB9D7128}"/>
              </a:ext>
            </a:extLst>
          </p:cNvPr>
          <p:cNvSpPr>
            <a:spLocks noGrp="1"/>
          </p:cNvSpPr>
          <p:nvPr>
            <p:ph type="dt" sz="half" idx="10"/>
          </p:nvPr>
        </p:nvSpPr>
        <p:spPr/>
        <p:txBody>
          <a:bodyPr/>
          <a:lstStyle/>
          <a:p>
            <a:fld id="{C5480D13-07B8-4CF5-901F-BD1025D74351}" type="datetime1">
              <a:rPr lang="en-US" smtClean="0"/>
              <a:t>11/1/2025</a:t>
            </a:fld>
            <a:endParaRPr lang="en-US"/>
          </a:p>
        </p:txBody>
      </p:sp>
      <p:sp>
        <p:nvSpPr>
          <p:cNvPr id="5" name="Slide Number Placeholder 4">
            <a:extLst>
              <a:ext uri="{FF2B5EF4-FFF2-40B4-BE49-F238E27FC236}">
                <a16:creationId xmlns:a16="http://schemas.microsoft.com/office/drawing/2014/main" id="{E8A83B3C-8735-B8FC-8D50-B919B3471343}"/>
              </a:ext>
            </a:extLst>
          </p:cNvPr>
          <p:cNvSpPr>
            <a:spLocks noGrp="1"/>
          </p:cNvSpPr>
          <p:nvPr>
            <p:ph type="sldNum" sz="quarter" idx="12"/>
          </p:nvPr>
        </p:nvSpPr>
        <p:spPr/>
        <p:txBody>
          <a:bodyPr/>
          <a:lstStyle/>
          <a:p>
            <a:fld id="{1FCEF87E-815D-44D1-B0AB-39AF0402D6A8}" type="slidenum">
              <a:rPr lang="en-US" smtClean="0"/>
              <a:t>6</a:t>
            </a:fld>
            <a:endParaRPr lang="en-US"/>
          </a:p>
        </p:txBody>
      </p:sp>
    </p:spTree>
    <p:extLst>
      <p:ext uri="{BB962C8B-B14F-4D97-AF65-F5344CB8AC3E}">
        <p14:creationId xmlns:p14="http://schemas.microsoft.com/office/powerpoint/2010/main" val="12633635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EA9EE-5679-A557-E7BF-0A904D0977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BF6077-2697-7116-5A2C-99B8054B7FE2}"/>
              </a:ext>
            </a:extLst>
          </p:cNvPr>
          <p:cNvSpPr>
            <a:spLocks noGrp="1"/>
          </p:cNvSpPr>
          <p:nvPr>
            <p:ph type="title"/>
          </p:nvPr>
        </p:nvSpPr>
        <p:spPr>
          <a:xfrm>
            <a:off x="0" y="365126"/>
            <a:ext cx="12192000" cy="645528"/>
          </a:xfrm>
        </p:spPr>
        <p:style>
          <a:lnRef idx="0">
            <a:schemeClr val="accent2"/>
          </a:lnRef>
          <a:fillRef idx="3">
            <a:schemeClr val="accent2"/>
          </a:fillRef>
          <a:effectRef idx="3">
            <a:schemeClr val="accent2"/>
          </a:effectRef>
          <a:fontRef idx="minor">
            <a:schemeClr val="lt1"/>
          </a:fontRef>
        </p:style>
        <p:txBody>
          <a:bodyPr>
            <a:normAutofit fontScale="90000"/>
          </a:bodyPr>
          <a:lstStyle/>
          <a:p>
            <a:pPr algn="ctr"/>
            <a:r>
              <a:rPr lang="en-GB" b="1" dirty="0">
                <a:solidFill>
                  <a:schemeClr val="tx1"/>
                </a:solidFill>
              </a:rPr>
              <a:t>REFERENCES</a:t>
            </a:r>
            <a:endParaRPr lang="en-US" dirty="0">
              <a:solidFill>
                <a:schemeClr val="tx1"/>
              </a:solidFill>
            </a:endParaRPr>
          </a:p>
        </p:txBody>
      </p:sp>
      <p:sp>
        <p:nvSpPr>
          <p:cNvPr id="3" name="Content Placeholder 2">
            <a:extLst>
              <a:ext uri="{FF2B5EF4-FFF2-40B4-BE49-F238E27FC236}">
                <a16:creationId xmlns:a16="http://schemas.microsoft.com/office/drawing/2014/main" id="{D3AB1971-AF7F-80EE-26ED-EA8A7E8C7C21}"/>
              </a:ext>
            </a:extLst>
          </p:cNvPr>
          <p:cNvSpPr>
            <a:spLocks noGrp="1"/>
          </p:cNvSpPr>
          <p:nvPr>
            <p:ph idx="1"/>
          </p:nvPr>
        </p:nvSpPr>
        <p:spPr>
          <a:xfrm>
            <a:off x="838200" y="1267326"/>
            <a:ext cx="10515600" cy="4909637"/>
          </a:xfrm>
        </p:spPr>
        <p:txBody>
          <a:bodyPr/>
          <a:lstStyle/>
          <a:p>
            <a:pPr marL="0" indent="0">
              <a:buNone/>
            </a:pPr>
            <a:endPar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AutoNum type="arabicPeriod"/>
            </a:pP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"Traffic Flow Prediction with Machine Learning," IEEE Transactions on Intelligent Transportation Systems, 2023.</a:t>
            </a:r>
          </a:p>
          <a:p>
            <a:pPr marL="0" indent="0">
              <a:buNone/>
            </a:pPr>
            <a:r>
              <a:rPr lang="en-US" sz="1800" kern="100" dirty="0">
                <a:solidFill>
                  <a:srgbClr val="000000"/>
                </a:solidFill>
                <a:latin typeface="Calibri" panose="020F0502020204030204" pitchFamily="34" charset="0"/>
                <a:ea typeface="Calibri" panose="020F0502020204030204" pitchFamily="34" charset="0"/>
                <a:cs typeface="Times New Roman" panose="02020603050405020304" pitchFamily="18" charset="0"/>
              </a:rPr>
              <a:t>2.</a:t>
            </a: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S. Sharma et al., Smart Traffic Control System Using Reinforcement Learning, Springer, 2022.</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3. Kaggle Datasets: Vehicle Detection Using OpenCV and YOLOv5.</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4. Python Documentation: scikit-learn, OpenCV.</a:t>
            </a:r>
            <a:b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en-US" sz="1800" kern="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5. ResearchGate: Adaptive Traffic Signal Control using AI.</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lvl="0" indent="0">
              <a:buNone/>
            </a:pPr>
            <a:endParaRPr lang="en-US" dirty="0"/>
          </a:p>
        </p:txBody>
      </p:sp>
      <p:sp>
        <p:nvSpPr>
          <p:cNvPr id="4" name="Date Placeholder 3">
            <a:extLst>
              <a:ext uri="{FF2B5EF4-FFF2-40B4-BE49-F238E27FC236}">
                <a16:creationId xmlns:a16="http://schemas.microsoft.com/office/drawing/2014/main" id="{418721BC-42E2-4822-3086-5AF81F1A3726}"/>
              </a:ext>
            </a:extLst>
          </p:cNvPr>
          <p:cNvSpPr>
            <a:spLocks noGrp="1"/>
          </p:cNvSpPr>
          <p:nvPr>
            <p:ph type="dt" sz="half" idx="10"/>
          </p:nvPr>
        </p:nvSpPr>
        <p:spPr/>
        <p:txBody>
          <a:bodyPr/>
          <a:lstStyle/>
          <a:p>
            <a:fld id="{C5480D13-07B8-4CF5-901F-BD1025D74351}" type="datetime1">
              <a:rPr lang="en-US" smtClean="0"/>
              <a:t>11/1/2025</a:t>
            </a:fld>
            <a:endParaRPr lang="en-US"/>
          </a:p>
        </p:txBody>
      </p:sp>
      <p:sp>
        <p:nvSpPr>
          <p:cNvPr id="5" name="Slide Number Placeholder 4">
            <a:extLst>
              <a:ext uri="{FF2B5EF4-FFF2-40B4-BE49-F238E27FC236}">
                <a16:creationId xmlns:a16="http://schemas.microsoft.com/office/drawing/2014/main" id="{60D8BC28-15FA-0C88-32FB-88458DEBBC23}"/>
              </a:ext>
            </a:extLst>
          </p:cNvPr>
          <p:cNvSpPr>
            <a:spLocks noGrp="1"/>
          </p:cNvSpPr>
          <p:nvPr>
            <p:ph type="sldNum" sz="quarter" idx="12"/>
          </p:nvPr>
        </p:nvSpPr>
        <p:spPr/>
        <p:txBody>
          <a:bodyPr/>
          <a:lstStyle/>
          <a:p>
            <a:fld id="{1FCEF87E-815D-44D1-B0AB-39AF0402D6A8}" type="slidenum">
              <a:rPr lang="en-US" smtClean="0"/>
              <a:t>7</a:t>
            </a:fld>
            <a:endParaRPr lang="en-US"/>
          </a:p>
        </p:txBody>
      </p:sp>
    </p:spTree>
    <p:extLst>
      <p:ext uri="{BB962C8B-B14F-4D97-AF65-F5344CB8AC3E}">
        <p14:creationId xmlns:p14="http://schemas.microsoft.com/office/powerpoint/2010/main" val="752607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465</Words>
  <Application>Microsoft Office PowerPoint</Application>
  <PresentationFormat>Widescreen</PresentationFormat>
  <Paragraphs>48</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Cambria</vt:lpstr>
      <vt:lpstr>Times New Roman</vt:lpstr>
      <vt:lpstr>Office Theme</vt:lpstr>
      <vt:lpstr>DEPARTMENT OF ARTIFICIAL INTELLIGENCE AND DATA SCIENCE ACADEMIC YEAR 2025 - 2026 SEMESTER III ARTIFICIAL INTELLIGENCE LABORATORY  MINI PROJECT REVIEW   SMART TRAFFIC SIGNAL CONTROL SYSTEM</vt:lpstr>
      <vt:lpstr>PROBLEM STATEMENT</vt:lpstr>
      <vt:lpstr>THEORETICAL BACKGROUND</vt:lpstr>
      <vt:lpstr>IMPLEMENTATION AND CODE</vt:lpstr>
      <vt:lpstr>OUTPUT AND RESULTS</vt:lpstr>
      <vt:lpstr>RESULTS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DEPARTMENT OF ARTIFICIAL INTELLIGENCE AND DATA SCIENCE ACADEMIC YEAR 2025 - 2026 SEMESTER III ARTIFICIAL INTELLIGENCE LABORATORY  MINI PROJECT REVIEW   &lt;TITLE OF THE PROJECT&gt;</dc:title>
  <dc:creator>SANKAR GANESH K</dc:creator>
  <cp:lastModifiedBy>Jaya Surya S</cp:lastModifiedBy>
  <cp:revision>7</cp:revision>
  <cp:lastPrinted>2025-11-01T17:28:58Z</cp:lastPrinted>
  <dcterms:created xsi:type="dcterms:W3CDTF">2025-10-18T08:57:34Z</dcterms:created>
  <dcterms:modified xsi:type="dcterms:W3CDTF">2025-11-01T17:29:46Z</dcterms:modified>
</cp:coreProperties>
</file>